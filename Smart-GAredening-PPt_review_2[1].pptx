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0"/>
  </p:notesMasterIdLst>
  <p:sldIdLst>
    <p:sldId id="256" r:id="rId3"/>
    <p:sldId id="284" r:id="rId4"/>
    <p:sldId id="285" r:id="rId5"/>
    <p:sldId id="277" r:id="rId6"/>
    <p:sldId id="287" r:id="rId7"/>
    <p:sldId id="286" r:id="rId8"/>
    <p:sldId id="281" r:id="rId9"/>
  </p:sldIdLst>
  <p:sldSz cx="12192000" cy="6858000"/>
  <p:notesSz cx="12192000" cy="6858000"/>
  <p:defaultTextStyle>
    <a:defPPr>
      <a:defRPr kern="0"/>
    </a:defPPr>
  </p:defaultTextStyle>
  <p:extLst>
    <p:ext uri="{521415D9-36F7-43E2-AB2F-B90AF26B5E84}">
      <p14:sectionLst xmlns:p14="http://schemas.microsoft.com/office/powerpoint/2010/main">
        <p14:section name="Default Section" id="{AA39C223-F9FF-4143-A6CD-A4C3839EE76F}">
          <p14:sldIdLst>
            <p14:sldId id="256"/>
          </p14:sldIdLst>
        </p14:section>
        <p14:section name="Untitled Section" id="{6DDC403A-8F72-422E-B335-A59C2829C36B}">
          <p14:sldIdLst>
            <p14:sldId id="284"/>
            <p14:sldId id="285"/>
            <p14:sldId id="277"/>
            <p14:sldId id="287"/>
            <p14:sldId id="286"/>
            <p14:sldId id="281"/>
          </p14:sldIdLst>
        </p14:section>
      </p14:sectionLst>
    </p:ext>
    <p:ext uri="{EFAFB233-063F-42B5-8137-9DF3F51BA10A}">
      <p15:sldGuideLst xmlns:p15="http://schemas.microsoft.com/office/powerpoint/2012/main">
        <p15:guide id="1" orient="horz" pos="2880" userDrawn="1">
          <p15:clr>
            <a:srgbClr val="A4A3A4"/>
          </p15:clr>
        </p15:guide>
        <p15:guide id="2" pos="21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436" autoAdjust="0"/>
    <p:restoredTop sz="94660"/>
  </p:normalViewPr>
  <p:slideViewPr>
    <p:cSldViewPr showGuides="1">
      <p:cViewPr>
        <p:scale>
          <a:sx n="86" d="100"/>
          <a:sy n="86" d="100"/>
        </p:scale>
        <p:origin x="355" y="48"/>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3" Type="http://schemas.openxmlformats.org/officeDocument/2006/relationships/tableStyles" Target="tableStyles.xml"/><Relationship Id="rId12" Type="http://schemas.openxmlformats.org/officeDocument/2006/relationships/viewProps" Target="viewProps.xml"/><Relationship Id="rId11" Type="http://schemas.openxmlformats.org/officeDocument/2006/relationships/presProps" Target="presProps.xml"/><Relationship Id="rId10" Type="http://schemas.openxmlformats.org/officeDocument/2006/relationships/notesMaster" Target="notesMasters/notesMaster1.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13D931D2-C29E-4BD3-8DE5-47A802785EFD}" type="datetimeFigureOut">
              <a:rPr lang="en-IN" smtClean="0"/>
            </a:fld>
            <a:endParaRPr lang="en-IN"/>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6"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04DBB355-3065-4039-B940-FFC461467B62}" type="slidenum">
              <a:rPr lang="en-IN" smtClean="0"/>
            </a:fld>
            <a:endParaRPr lang="en-IN"/>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sz="3200" b="0" i="0">
                <a:solidFill>
                  <a:schemeClr val="bg1"/>
                </a:solidFill>
                <a:latin typeface="Times New Roman" panose="02020603050405020304"/>
                <a:cs typeface="Times New Roman" panose="02020603050405020304"/>
              </a:defRPr>
            </a:lvl1pPr>
          </a:lstStyle>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sz="2800" b="0" i="0">
                <a:solidFill>
                  <a:schemeClr val="tx1"/>
                </a:solidFill>
                <a:latin typeface="Calibri" panose="020F0502020204030204"/>
                <a:cs typeface="Calibri" panose="020F0502020204030204"/>
              </a:defRPr>
            </a:lvl1pPr>
          </a:lstStyle>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0" i="0">
                <a:solidFill>
                  <a:schemeClr val="bg1"/>
                </a:solidFill>
                <a:latin typeface="Times New Roman" panose="02020603050405020304"/>
                <a:cs typeface="Times New Roman" panose="02020603050405020304"/>
              </a:defRPr>
            </a:lvl1pPr>
          </a:lstStyle>
          <a:p/>
        </p:txBody>
      </p:sp>
      <p:sp>
        <p:nvSpPr>
          <p:cNvPr id="3" name="Holder 3"/>
          <p:cNvSpPr>
            <a:spLocks noGrp="1"/>
          </p:cNvSpPr>
          <p:nvPr>
            <p:ph type="body" idx="1"/>
          </p:nvPr>
        </p:nvSpPr>
        <p:spPr/>
        <p:txBody>
          <a:bodyPr lIns="0" tIns="0" rIns="0" bIns="0"/>
          <a:lstStyle>
            <a:lvl1pPr>
              <a:defRPr sz="2800" b="0" i="0">
                <a:solidFill>
                  <a:schemeClr val="tx1"/>
                </a:solidFill>
                <a:latin typeface="Calibri" panose="020F0502020204030204"/>
                <a:cs typeface="Calibri" panose="020F0502020204030204"/>
              </a:defRPr>
            </a:lvl1pPr>
          </a:lstStyle>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0" i="0">
                <a:solidFill>
                  <a:schemeClr val="bg1"/>
                </a:solidFill>
                <a:latin typeface="Times New Roman" panose="02020603050405020304"/>
                <a:cs typeface="Times New Roman" panose="02020603050405020304"/>
              </a:defRPr>
            </a:lvl1pPr>
          </a:lstStyle>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0" i="0">
                <a:solidFill>
                  <a:schemeClr val="bg1"/>
                </a:solidFill>
                <a:latin typeface="Times New Roman" panose="02020603050405020304"/>
                <a:cs typeface="Times New Roman" panose="02020603050405020304"/>
              </a:defRPr>
            </a:lvl1pPr>
          </a:lstStyle>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78739" y="71754"/>
            <a:ext cx="4010050" cy="757555"/>
          </a:xfrm>
          <a:prstGeom prst="rect">
            <a:avLst/>
          </a:prstGeom>
        </p:spPr>
        <p:txBody>
          <a:bodyPr wrap="square" lIns="0" tIns="0" rIns="0" bIns="0">
            <a:spAutoFit/>
          </a:bodyPr>
          <a:lstStyle>
            <a:lvl1pPr>
              <a:defRPr sz="3200" b="0" i="0">
                <a:solidFill>
                  <a:schemeClr val="bg1"/>
                </a:solidFill>
                <a:latin typeface="Times New Roman" panose="02020603050405020304"/>
                <a:cs typeface="Times New Roman" panose="02020603050405020304"/>
              </a:defRPr>
            </a:lvl1pPr>
          </a:lstStyle>
          <a:p/>
        </p:txBody>
      </p:sp>
      <p:sp>
        <p:nvSpPr>
          <p:cNvPr id="3" name="Holder 3"/>
          <p:cNvSpPr>
            <a:spLocks noGrp="1"/>
          </p:cNvSpPr>
          <p:nvPr>
            <p:ph type="body" idx="1"/>
          </p:nvPr>
        </p:nvSpPr>
        <p:spPr>
          <a:xfrm>
            <a:off x="339953" y="1070863"/>
            <a:ext cx="11388725" cy="2116455"/>
          </a:xfrm>
          <a:prstGeom prst="rect">
            <a:avLst/>
          </a:prstGeom>
        </p:spPr>
        <p:txBody>
          <a:bodyPr wrap="square" lIns="0" tIns="0" rIns="0" bIns="0">
            <a:spAutoFit/>
          </a:bodyPr>
          <a:lstStyle>
            <a:lvl1pPr>
              <a:defRPr sz="2800" b="0" i="0">
                <a:solidFill>
                  <a:schemeClr val="tx1"/>
                </a:solidFill>
                <a:latin typeface="Calibri" panose="020F0502020204030204"/>
                <a:cs typeface="Calibri" panose="020F0502020204030204"/>
              </a:defRPr>
            </a:lvl1pPr>
          </a:lstStyle>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rPr/>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https://www.springeropen.com/journals"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p:nvPr/>
        </p:nvSpPr>
        <p:spPr>
          <a:xfrm>
            <a:off x="1029335" y="1511300"/>
            <a:ext cx="10402570" cy="1831340"/>
          </a:xfrm>
          <a:prstGeom prst="rect">
            <a:avLst/>
          </a:prstGeom>
        </p:spPr>
        <p:txBody>
          <a:bodyPr vert="horz" wrap="square" lIns="0" tIns="12065" rIns="0" bIns="0" rtlCol="0">
            <a:noAutofit/>
          </a:bodyPr>
          <a:lstStyle/>
          <a:p>
            <a:pPr marL="635" algn="ctr">
              <a:lnSpc>
                <a:spcPts val="2800"/>
              </a:lnSpc>
              <a:spcBef>
                <a:spcPts val="95"/>
              </a:spcBef>
            </a:pPr>
            <a:r>
              <a:rPr lang="en-US" altLang="en-US" sz="2800" b="1" dirty="0">
                <a:solidFill>
                  <a:srgbClr val="FF0000"/>
                </a:solidFill>
                <a:latin typeface="Times New Roman" panose="02020603050405020304"/>
                <a:cs typeface="Times New Roman" panose="02020603050405020304"/>
              </a:rPr>
              <a:t>SMART GARDENING ASSISTANT</a:t>
            </a:r>
            <a:endParaRPr sz="2800" dirty="0">
              <a:latin typeface="Times New Roman" panose="02020603050405020304"/>
              <a:cs typeface="Times New Roman" panose="02020603050405020304"/>
            </a:endParaRPr>
          </a:p>
          <a:p>
            <a:pPr marL="156845" algn="ctr">
              <a:lnSpc>
                <a:spcPct val="100000"/>
              </a:lnSpc>
              <a:spcBef>
                <a:spcPts val="2245"/>
              </a:spcBef>
            </a:pPr>
            <a:endParaRPr sz="2800" dirty="0">
              <a:latin typeface="Times New Roman" panose="02020603050405020304"/>
              <a:cs typeface="Times New Roman" panose="02020603050405020304"/>
            </a:endParaRPr>
          </a:p>
        </p:txBody>
      </p:sp>
      <p:sp>
        <p:nvSpPr>
          <p:cNvPr id="4" name="object 4"/>
          <p:cNvSpPr txBox="1"/>
          <p:nvPr/>
        </p:nvSpPr>
        <p:spPr>
          <a:xfrm>
            <a:off x="381000" y="3657600"/>
            <a:ext cx="5894705" cy="2362200"/>
          </a:xfrm>
          <a:prstGeom prst="rect">
            <a:avLst/>
          </a:prstGeom>
        </p:spPr>
        <p:txBody>
          <a:bodyPr vert="horz" wrap="square" lIns="0" tIns="165100" rIns="0" bIns="0" rtlCol="0">
            <a:noAutofit/>
          </a:bodyPr>
          <a:lstStyle/>
          <a:p>
            <a:pPr marL="12700">
              <a:lnSpc>
                <a:spcPct val="100000"/>
              </a:lnSpc>
              <a:spcBef>
                <a:spcPts val="1300"/>
              </a:spcBef>
            </a:pPr>
            <a:r>
              <a:rPr lang="en-US" altLang="en-US" sz="2000" spc="-10" dirty="0">
                <a:latin typeface="Times New Roman" panose="02020603050405020304"/>
                <a:cs typeface="Times New Roman" panose="02020603050405020304"/>
              </a:rPr>
              <a:t>Student Names(Roll Nos):</a:t>
            </a:r>
            <a:endParaRPr lang="en-US" altLang="en-US" sz="2000" spc="-10" dirty="0">
              <a:latin typeface="Times New Roman" panose="02020603050405020304"/>
              <a:cs typeface="Times New Roman" panose="02020603050405020304"/>
            </a:endParaRPr>
          </a:p>
          <a:p>
            <a:pPr marL="12700">
              <a:lnSpc>
                <a:spcPct val="100000"/>
              </a:lnSpc>
              <a:spcBef>
                <a:spcPts val="1300"/>
              </a:spcBef>
            </a:pPr>
            <a:r>
              <a:rPr lang="en-US" altLang="en-US" sz="2000" spc="-10" dirty="0">
                <a:latin typeface="Times New Roman" panose="02020603050405020304"/>
                <a:cs typeface="Times New Roman" panose="02020603050405020304"/>
              </a:rPr>
              <a:t>A .Madhuri(2311CS030038)</a:t>
            </a:r>
            <a:endParaRPr lang="en-US" altLang="en-US" sz="2000" spc="-10" dirty="0">
              <a:latin typeface="Times New Roman" panose="02020603050405020304"/>
              <a:cs typeface="Times New Roman" panose="02020603050405020304"/>
            </a:endParaRPr>
          </a:p>
          <a:p>
            <a:pPr marL="12700">
              <a:lnSpc>
                <a:spcPct val="100000"/>
              </a:lnSpc>
              <a:spcBef>
                <a:spcPts val="1300"/>
              </a:spcBef>
            </a:pPr>
            <a:r>
              <a:rPr lang="en-US" altLang="en-US" sz="2000" spc="-10" dirty="0">
                <a:latin typeface="Times New Roman" panose="02020603050405020304"/>
                <a:cs typeface="Times New Roman" panose="02020603050405020304"/>
              </a:rPr>
              <a:t>B .Rakesh(2311cs030056)</a:t>
            </a:r>
            <a:endParaRPr lang="en-US" altLang="en-US" sz="2000" spc="-10" dirty="0">
              <a:latin typeface="Times New Roman" panose="02020603050405020304"/>
              <a:cs typeface="Times New Roman" panose="02020603050405020304"/>
            </a:endParaRPr>
          </a:p>
          <a:p>
            <a:pPr marL="12700">
              <a:lnSpc>
                <a:spcPct val="100000"/>
              </a:lnSpc>
              <a:spcBef>
                <a:spcPts val="1300"/>
              </a:spcBef>
            </a:pPr>
            <a:r>
              <a:rPr lang="en-US" altLang="en-US" sz="2000" spc="-10" dirty="0">
                <a:latin typeface="Times New Roman" panose="02020603050405020304"/>
                <a:cs typeface="Times New Roman" panose="02020603050405020304"/>
              </a:rPr>
              <a:t>B .Namitha Reddy(2311Cs030088)</a:t>
            </a:r>
            <a:endParaRPr lang="en-US" altLang="en-US" sz="2000" spc="-10" dirty="0">
              <a:latin typeface="Times New Roman" panose="02020603050405020304"/>
              <a:cs typeface="Times New Roman" panose="02020603050405020304"/>
            </a:endParaRPr>
          </a:p>
          <a:p>
            <a:pPr marL="12700">
              <a:lnSpc>
                <a:spcPct val="100000"/>
              </a:lnSpc>
              <a:spcBef>
                <a:spcPts val="1300"/>
              </a:spcBef>
            </a:pPr>
            <a:r>
              <a:rPr lang="en-US" altLang="en-US" sz="2000" spc="-10" dirty="0" err="1">
                <a:latin typeface="Times New Roman" panose="02020603050405020304"/>
                <a:cs typeface="Times New Roman" panose="02020603050405020304"/>
              </a:rPr>
              <a:t>A.Srivalli</a:t>
            </a:r>
            <a:r>
              <a:rPr lang="en-US" altLang="en-US" sz="2000" spc="-10" dirty="0">
                <a:latin typeface="Times New Roman" panose="02020603050405020304"/>
                <a:cs typeface="Times New Roman" panose="02020603050405020304"/>
              </a:rPr>
              <a:t>(2311CS030007)</a:t>
            </a:r>
            <a:endParaRPr lang="en-US" altLang="en-US" sz="2000" spc="-10" dirty="0">
              <a:latin typeface="Times New Roman" panose="02020603050405020304"/>
              <a:cs typeface="Times New Roman" panose="02020603050405020304"/>
            </a:endParaRPr>
          </a:p>
          <a:p>
            <a:pPr marL="12700">
              <a:lnSpc>
                <a:spcPct val="100000"/>
              </a:lnSpc>
              <a:spcBef>
                <a:spcPts val="1300"/>
              </a:spcBef>
            </a:pPr>
            <a:endParaRPr lang="en-US" altLang="en-US" sz="2000" spc="-10" dirty="0">
              <a:latin typeface="Times New Roman" panose="02020603050405020304"/>
              <a:cs typeface="Times New Roman" panose="02020603050405020304"/>
            </a:endParaRPr>
          </a:p>
          <a:p>
            <a:pPr marL="12700">
              <a:lnSpc>
                <a:spcPct val="100000"/>
              </a:lnSpc>
              <a:spcBef>
                <a:spcPts val="1300"/>
              </a:spcBef>
            </a:pPr>
            <a:endParaRPr lang="en-US" altLang="en-US" sz="2000" dirty="0">
              <a:latin typeface="Times New Roman" panose="02020603050405020304"/>
              <a:cs typeface="Times New Roman" panose="02020603050405020304"/>
            </a:endParaRPr>
          </a:p>
        </p:txBody>
      </p:sp>
      <p:pic>
        <p:nvPicPr>
          <p:cNvPr id="6" name="object 6"/>
          <p:cNvPicPr/>
          <p:nvPr/>
        </p:nvPicPr>
        <p:blipFill>
          <a:blip r:embed="rId1" cstate="print"/>
          <a:stretch>
            <a:fillRect/>
          </a:stretch>
        </p:blipFill>
        <p:spPr>
          <a:xfrm>
            <a:off x="753694" y="182841"/>
            <a:ext cx="10658475" cy="796836"/>
          </a:xfrm>
          <a:prstGeom prst="rect">
            <a:avLst/>
          </a:prstGeom>
        </p:spPr>
      </p:pic>
      <p:sp>
        <p:nvSpPr>
          <p:cNvPr id="7" name="object 7"/>
          <p:cNvSpPr txBox="1"/>
          <p:nvPr/>
        </p:nvSpPr>
        <p:spPr>
          <a:xfrm>
            <a:off x="7579995" y="3500120"/>
            <a:ext cx="3716020" cy="893643"/>
          </a:xfrm>
          <a:prstGeom prst="rect">
            <a:avLst/>
          </a:prstGeom>
        </p:spPr>
        <p:txBody>
          <a:bodyPr vert="horz" wrap="square" lIns="0" tIns="12700" rIns="0" bIns="0" rtlCol="0">
            <a:spAutoFit/>
          </a:bodyPr>
          <a:lstStyle/>
          <a:p>
            <a:pPr marL="12700" marR="5080">
              <a:lnSpc>
                <a:spcPct val="150000"/>
              </a:lnSpc>
              <a:spcBef>
                <a:spcPts val="100"/>
              </a:spcBef>
            </a:pPr>
            <a:r>
              <a:rPr sz="2000" spc="-40" dirty="0">
                <a:latin typeface="Times New Roman" panose="02020603050405020304"/>
                <a:cs typeface="Times New Roman" panose="02020603050405020304"/>
              </a:rPr>
              <a:t>Year</a:t>
            </a:r>
            <a:r>
              <a:rPr sz="2000" spc="-25" dirty="0">
                <a:latin typeface="Times New Roman" panose="02020603050405020304"/>
                <a:cs typeface="Times New Roman" panose="02020603050405020304"/>
              </a:rPr>
              <a:t> </a:t>
            </a:r>
            <a:r>
              <a:rPr sz="2000" dirty="0">
                <a:latin typeface="Times New Roman" panose="02020603050405020304"/>
                <a:cs typeface="Times New Roman" panose="02020603050405020304"/>
              </a:rPr>
              <a:t>/</a:t>
            </a:r>
            <a:r>
              <a:rPr sz="2000" spc="-30" dirty="0">
                <a:latin typeface="Times New Roman" panose="02020603050405020304"/>
                <a:cs typeface="Times New Roman" panose="02020603050405020304"/>
              </a:rPr>
              <a:t> </a:t>
            </a:r>
            <a:r>
              <a:rPr sz="2000" dirty="0">
                <a:latin typeface="Times New Roman" panose="02020603050405020304"/>
                <a:cs typeface="Times New Roman" panose="02020603050405020304"/>
              </a:rPr>
              <a:t>Semester:</a:t>
            </a:r>
            <a:r>
              <a:rPr sz="2000" spc="-30" dirty="0">
                <a:latin typeface="Times New Roman" panose="02020603050405020304"/>
                <a:cs typeface="Times New Roman" panose="02020603050405020304"/>
              </a:rPr>
              <a:t> </a:t>
            </a:r>
            <a:r>
              <a:rPr lang="en-US" altLang="en-US" sz="2000" spc="-30" dirty="0">
                <a:latin typeface="Times New Roman" panose="02020603050405020304"/>
                <a:cs typeface="Times New Roman" panose="02020603050405020304"/>
              </a:rPr>
              <a:t>II</a:t>
            </a:r>
            <a:r>
              <a:rPr lang="en-US" altLang="en-US" sz="2000" spc="-15" dirty="0">
                <a:latin typeface="Times New Roman" panose="02020603050405020304"/>
                <a:cs typeface="Times New Roman" panose="02020603050405020304"/>
              </a:rPr>
              <a:t>I</a:t>
            </a:r>
            <a:r>
              <a:rPr sz="2000" dirty="0">
                <a:latin typeface="Times New Roman" panose="02020603050405020304"/>
                <a:cs typeface="Times New Roman" panose="02020603050405020304"/>
              </a:rPr>
              <a:t>/</a:t>
            </a:r>
            <a:r>
              <a:rPr sz="2000" spc="-20" dirty="0">
                <a:latin typeface="Times New Roman" panose="02020603050405020304"/>
                <a:cs typeface="Times New Roman" panose="02020603050405020304"/>
              </a:rPr>
              <a:t> </a:t>
            </a:r>
            <a:r>
              <a:rPr sz="2000" spc="-25" dirty="0">
                <a:latin typeface="Times New Roman" panose="02020603050405020304"/>
                <a:cs typeface="Times New Roman" panose="02020603050405020304"/>
              </a:rPr>
              <a:t>I</a:t>
            </a:r>
            <a:endParaRPr sz="2000" spc="-25" dirty="0">
              <a:latin typeface="Times New Roman" panose="02020603050405020304"/>
              <a:cs typeface="Times New Roman" panose="02020603050405020304"/>
            </a:endParaRPr>
          </a:p>
          <a:p>
            <a:pPr marL="12700" marR="5080">
              <a:lnSpc>
                <a:spcPct val="150000"/>
              </a:lnSpc>
              <a:spcBef>
                <a:spcPts val="100"/>
              </a:spcBef>
            </a:pPr>
            <a:r>
              <a:rPr sz="2000" dirty="0">
                <a:latin typeface="Times New Roman" panose="02020603050405020304"/>
                <a:cs typeface="Times New Roman" panose="02020603050405020304"/>
              </a:rPr>
              <a:t>Branch</a:t>
            </a:r>
            <a:r>
              <a:rPr sz="2000" spc="-15" dirty="0">
                <a:latin typeface="Times New Roman" panose="02020603050405020304"/>
                <a:cs typeface="Times New Roman" panose="02020603050405020304"/>
              </a:rPr>
              <a:t> </a:t>
            </a:r>
            <a:r>
              <a:rPr sz="2000" dirty="0">
                <a:latin typeface="Times New Roman" panose="02020603050405020304"/>
                <a:cs typeface="Times New Roman" panose="02020603050405020304"/>
              </a:rPr>
              <a:t>/</a:t>
            </a:r>
            <a:r>
              <a:rPr sz="2000" spc="-15" dirty="0">
                <a:latin typeface="Times New Roman" panose="02020603050405020304"/>
                <a:cs typeface="Times New Roman" panose="02020603050405020304"/>
              </a:rPr>
              <a:t> </a:t>
            </a:r>
            <a:r>
              <a:rPr sz="2000" dirty="0">
                <a:latin typeface="Times New Roman" panose="02020603050405020304"/>
                <a:cs typeface="Times New Roman" panose="02020603050405020304"/>
              </a:rPr>
              <a:t>Section:</a:t>
            </a:r>
            <a:r>
              <a:rPr sz="2000" spc="-25" dirty="0">
                <a:latin typeface="Times New Roman" panose="02020603050405020304"/>
                <a:cs typeface="Times New Roman" panose="02020603050405020304"/>
              </a:rPr>
              <a:t> </a:t>
            </a:r>
            <a:r>
              <a:rPr sz="2000" dirty="0">
                <a:latin typeface="Times New Roman" panose="02020603050405020304"/>
                <a:cs typeface="Times New Roman" panose="02020603050405020304"/>
              </a:rPr>
              <a:t>DS</a:t>
            </a:r>
            <a:r>
              <a:rPr sz="2000" spc="-10" dirty="0">
                <a:latin typeface="Times New Roman" panose="02020603050405020304"/>
                <a:cs typeface="Times New Roman" panose="02020603050405020304"/>
              </a:rPr>
              <a:t> </a:t>
            </a:r>
            <a:r>
              <a:rPr sz="2000" dirty="0">
                <a:latin typeface="Times New Roman" panose="02020603050405020304"/>
                <a:cs typeface="Times New Roman" panose="02020603050405020304"/>
              </a:rPr>
              <a:t>/</a:t>
            </a:r>
            <a:r>
              <a:rPr sz="2000" spc="-5" dirty="0">
                <a:latin typeface="Times New Roman" panose="02020603050405020304"/>
                <a:cs typeface="Times New Roman" panose="02020603050405020304"/>
              </a:rPr>
              <a:t> </a:t>
            </a:r>
            <a:r>
              <a:rPr lang="en-US" altLang="en-US" sz="2000" spc="-5" dirty="0">
                <a:latin typeface="Times New Roman" panose="02020603050405020304"/>
                <a:cs typeface="Times New Roman" panose="02020603050405020304"/>
              </a:rPr>
              <a:t>Alpha</a:t>
            </a:r>
            <a:endParaRPr lang="en-US" altLang="en-US" sz="2000" spc="-5" dirty="0">
              <a:latin typeface="Times New Roman" panose="02020603050405020304"/>
              <a:cs typeface="Times New Roman" panose="020206030504050203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78738" y="71754"/>
            <a:ext cx="4188461" cy="999109"/>
          </a:xfrm>
          <a:prstGeom prst="homePlate">
            <a:avLst/>
          </a:prstGeom>
          <a:gradFill>
            <a:gsLst>
              <a:gs pos="0">
                <a:srgbClr val="E30000"/>
              </a:gs>
              <a:gs pos="100000">
                <a:srgbClr val="760303"/>
              </a:gs>
            </a:gsLst>
            <a:lin scaled="0"/>
          </a:grad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r>
              <a:rPr lang="en-US" sz="3600" dirty="0">
                <a:latin typeface="Times New Roman" panose="02020603050405020304" pitchFamily="18" charset="0"/>
                <a:cs typeface="Times New Roman" panose="02020603050405020304" pitchFamily="18" charset="0"/>
              </a:rPr>
              <a:t>DATA FLOW DIAGRAMS</a:t>
            </a:r>
            <a:endParaRPr lang="en-US" sz="3600" dirty="0">
              <a:latin typeface="Times New Roman" panose="02020603050405020304" pitchFamily="18" charset="0"/>
              <a:cs typeface="Times New Roman" panose="02020603050405020304" pitchFamily="18" charset="0"/>
            </a:endParaRPr>
          </a:p>
        </p:txBody>
      </p:sp>
      <p:sp>
        <p:nvSpPr>
          <p:cNvPr id="6" name="Text Placeholder 5"/>
          <p:cNvSpPr>
            <a:spLocks noGrp="1"/>
          </p:cNvSpPr>
          <p:nvPr>
            <p:ph type="body" idx="1"/>
          </p:nvPr>
        </p:nvSpPr>
        <p:spPr/>
        <p:txBody>
          <a:bodyPr/>
          <a:lstStyle/>
          <a:p>
            <a:r>
              <a:rPr lang="en-GB" dirty="0"/>
              <a:t> </a:t>
            </a:r>
            <a:endParaRPr lang="en-IN" dirty="0"/>
          </a:p>
        </p:txBody>
      </p:sp>
      <p:pic>
        <p:nvPicPr>
          <p:cNvPr id="1026" name="Picture 2" descr="Data flow diagram of a smart agriculture system. | Download ..."/>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419600" y="-71755"/>
            <a:ext cx="7309078" cy="713339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prstGeom prst="homePlate">
            <a:avLst/>
          </a:prstGeom>
          <a:gradFill>
            <a:gsLst>
              <a:gs pos="0">
                <a:srgbClr val="E30000"/>
              </a:gs>
              <a:gs pos="100000">
                <a:srgbClr val="760303"/>
              </a:gs>
            </a:gsLst>
            <a:lin scaled="0"/>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4000" dirty="0">
                <a:latin typeface="Times New Roman" panose="02020603050405020304" pitchFamily="18" charset="0"/>
                <a:cs typeface="Times New Roman" panose="02020603050405020304" pitchFamily="18" charset="0"/>
              </a:rPr>
              <a:t>Modules</a:t>
            </a:r>
            <a:endParaRPr lang="en-US" sz="4000" dirty="0">
              <a:latin typeface="Times New Roman" panose="02020603050405020304" pitchFamily="18" charset="0"/>
              <a:cs typeface="Times New Roman" panose="02020603050405020304" pitchFamily="18" charset="0"/>
            </a:endParaRPr>
          </a:p>
        </p:txBody>
      </p:sp>
      <p:sp>
        <p:nvSpPr>
          <p:cNvPr id="2" name="Text Placeholder 1"/>
          <p:cNvSpPr>
            <a:spLocks noGrp="1"/>
          </p:cNvSpPr>
          <p:nvPr>
            <p:ph type="body" idx="1"/>
          </p:nvPr>
        </p:nvSpPr>
        <p:spPr>
          <a:xfrm>
            <a:off x="339953" y="914399"/>
            <a:ext cx="11388725" cy="7424657"/>
          </a:xfrm>
        </p:spPr>
        <p:txBody>
          <a:bodyPr/>
          <a:lstStyle/>
          <a:p>
            <a:r>
              <a:rPr lang="en-US" sz="2000" b="1" dirty="0">
                <a:latin typeface="Times New Roman" panose="02020603050405020304" pitchFamily="18" charset="0"/>
                <a:cs typeface="Times New Roman" panose="02020603050405020304" pitchFamily="18" charset="0"/>
              </a:rPr>
              <a:t>1. Image Processing &amp; Disease Detection Module:</a:t>
            </a:r>
            <a:endParaRPr lang="en-US" sz="2000" b="1"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Purpose: </a:t>
            </a:r>
            <a:r>
              <a:rPr lang="en-US" sz="2000" dirty="0">
                <a:latin typeface="Times New Roman" panose="02020603050405020304" pitchFamily="18" charset="0"/>
                <a:cs typeface="Times New Roman" panose="02020603050405020304" pitchFamily="18" charset="0"/>
              </a:rPr>
              <a:t>Detects and classifies plant diseases from images.</a:t>
            </a:r>
            <a:endParaRPr lang="en-US" sz="2000"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Key:</a:t>
            </a:r>
            <a:endParaRPr lang="en-US" sz="2000" b="1"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Image preprocessing (resizing, noise removal, normalization)</a:t>
            </a:r>
            <a:endParaRPr lang="en-IN"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Feature extraction using CNN (Convolutional Neural Networks) or Transfer Learning models.</a:t>
            </a:r>
            <a:endParaRPr lang="en-IN"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Disease classification (healthy vs. infected, type of disease)</a:t>
            </a:r>
            <a:endParaRPr lang="en-IN" sz="2000" dirty="0">
              <a:latin typeface="Times New Roman" panose="02020603050405020304" pitchFamily="18" charset="0"/>
              <a:cs typeface="Times New Roman" panose="02020603050405020304" pitchFamily="18" charset="0"/>
            </a:endParaRPr>
          </a:p>
          <a:p>
            <a:r>
              <a:rPr lang="en-IN" sz="2000" b="1" dirty="0">
                <a:latin typeface="Times New Roman" panose="02020603050405020304" pitchFamily="18" charset="0"/>
                <a:cs typeface="Times New Roman" panose="02020603050405020304" pitchFamily="18" charset="0"/>
              </a:rPr>
              <a:t>2. Plant &amp; Disease Database Module</a:t>
            </a:r>
            <a:endParaRPr lang="en-IN" sz="2000" b="1"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 Stores information about plants, diseases, symptoms, and pesticide options.</a:t>
            </a:r>
            <a:br>
              <a:rPr lang="en-IN" sz="2000" dirty="0">
                <a:latin typeface="Times New Roman" panose="02020603050405020304" pitchFamily="18" charset="0"/>
                <a:cs typeface="Times New Roman" panose="02020603050405020304" pitchFamily="18" charset="0"/>
              </a:rPr>
            </a:br>
            <a:r>
              <a:rPr lang="en-IN" sz="2000" b="1" dirty="0">
                <a:latin typeface="Times New Roman" panose="02020603050405020304" pitchFamily="18" charset="0"/>
                <a:cs typeface="Times New Roman" panose="02020603050405020304" pitchFamily="18" charset="0"/>
              </a:rPr>
              <a:t>Key :</a:t>
            </a:r>
            <a:endParaRPr lang="en-IN"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Structured database of plant species and common diseases</a:t>
            </a:r>
            <a:endParaRPr lang="en-IN"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Symptom–disease–pesticide relationships</a:t>
            </a:r>
            <a:endParaRPr lang="en-IN"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Metadata for organic vs. chemical pesticide options</a:t>
            </a:r>
            <a:endParaRPr lang="en-IN" sz="2000"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3. Pesticide Recommendation Module:</a:t>
            </a:r>
            <a:endParaRPr lang="en-US" sz="2000" b="1"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Suggests effective pesticides or treatments based on detected disease.</a:t>
            </a:r>
            <a:br>
              <a:rPr lang="en-US" sz="2000" dirty="0">
                <a:latin typeface="Times New Roman" panose="02020603050405020304" pitchFamily="18" charset="0"/>
                <a:cs typeface="Times New Roman" panose="02020603050405020304" pitchFamily="18" charset="0"/>
              </a:rPr>
            </a:br>
            <a:r>
              <a:rPr lang="en-US" sz="2000" b="1" dirty="0">
                <a:latin typeface="Times New Roman" panose="02020603050405020304" pitchFamily="18" charset="0"/>
                <a:cs typeface="Times New Roman" panose="02020603050405020304" pitchFamily="18" charset="0"/>
              </a:rPr>
              <a:t>Key:</a:t>
            </a:r>
            <a:endParaRPr lang="en-US"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Maps detected disease to appropriate pesticide(s)</a:t>
            </a:r>
            <a:endParaRPr lang="en-US"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Provides dosage, application frequency, and safety instructions</a:t>
            </a:r>
            <a:endParaRPr lang="en-US"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Suggests eco-friendly alternatives or integrated pest management (IPM) tips</a:t>
            </a:r>
            <a:endParaRPr lang="en-US" sz="2000" dirty="0">
              <a:latin typeface="Times New Roman" panose="02020603050405020304" pitchFamily="18" charset="0"/>
              <a:cs typeface="Times New Roman" panose="02020603050405020304" pitchFamily="18" charset="0"/>
            </a:endParaRPr>
          </a:p>
          <a:p>
            <a:endParaRPr lang="en-IN" sz="2000" dirty="0"/>
          </a:p>
          <a:p>
            <a:endParaRPr lang="en-IN" sz="2000" dirty="0"/>
          </a:p>
          <a:p>
            <a:endParaRPr lang="en-IN" sz="2000" dirty="0"/>
          </a:p>
          <a:p>
            <a:endParaRPr lang="en-IN" sz="2000" dirty="0"/>
          </a:p>
          <a:p>
            <a:endParaRPr lang="en-IN" sz="2000" dirty="0"/>
          </a:p>
          <a:p>
            <a:endParaRPr lang="en-IN" dirty="0"/>
          </a:p>
        </p:txBody>
      </p:sp>
      <p:sp>
        <p:nvSpPr>
          <p:cNvPr id="11" name="Rectangle 6"/>
          <p:cNvSpPr>
            <a:spLocks noChangeArrowheads="1"/>
          </p:cNvSpPr>
          <p:nvPr/>
        </p:nvSpPr>
        <p:spPr bwMode="auto">
          <a:xfrm>
            <a:off x="304800" y="3396733"/>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0" y="73343"/>
            <a:ext cx="6855462" cy="615314"/>
          </a:xfrm>
          <a:prstGeom prst="homePlate">
            <a:avLst/>
          </a:prstGeom>
          <a:gradFill>
            <a:gsLst>
              <a:gs pos="0">
                <a:srgbClr val="E30000"/>
              </a:gs>
              <a:gs pos="100000">
                <a:srgbClr val="760303"/>
              </a:gs>
            </a:gsLst>
            <a:lin scaled="0"/>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en-US" altLang="en-US" sz="4000" b="1" dirty="0">
                <a:sym typeface="+mn-ea"/>
              </a:rPr>
              <a:t>Results</a:t>
            </a:r>
            <a:endParaRPr lang="en-US" sz="4000" dirty="0">
              <a:latin typeface="Times New Roman" panose="02020603050405020304" pitchFamily="18" charset="0"/>
              <a:cs typeface="Times New Roman" panose="02020603050405020304" pitchFamily="18" charset="0"/>
            </a:endParaRPr>
          </a:p>
        </p:txBody>
      </p:sp>
      <p:sp>
        <p:nvSpPr>
          <p:cNvPr id="9" name="Text Placeholder 8"/>
          <p:cNvSpPr>
            <a:spLocks noGrp="1"/>
          </p:cNvSpPr>
          <p:nvPr>
            <p:ph type="body" idx="1"/>
          </p:nvPr>
        </p:nvSpPr>
        <p:spPr>
          <a:xfrm>
            <a:off x="228601" y="1066800"/>
            <a:ext cx="11561762" cy="5539978"/>
          </a:xfrm>
        </p:spPr>
        <p:txBody>
          <a:bodyPr/>
          <a:lstStyle/>
          <a:p>
            <a:r>
              <a:rPr lang="en-US" sz="2400" b="1" dirty="0">
                <a:latin typeface="Times New Roman" panose="02020603050405020304" pitchFamily="18" charset="0"/>
                <a:cs typeface="Times New Roman" panose="02020603050405020304" pitchFamily="18" charset="0"/>
              </a:rPr>
              <a:t>1.Automation of Tasks:​</a:t>
            </a:r>
            <a:endParaRPr lang="en-US" sz="2400" b="1"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​Automated Fertilization: Lights and nutrient delivery are managed on a precise, optimized schedule.​</a:t>
            </a:r>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r>
              <a:rPr lang="en-US" sz="2400" b="1" dirty="0">
                <a:latin typeface="Times New Roman" panose="02020603050405020304" pitchFamily="18" charset="0"/>
                <a:cs typeface="Times New Roman" panose="02020603050405020304" pitchFamily="18" charset="0"/>
              </a:rPr>
              <a:t>2.Real-Time Monitoring: </a:t>
            </a:r>
            <a:endParaRPr lang="en-US" sz="2400" b="1"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Users get instant insights into the garden's environment, tracking key parameters like:​Temperature and Humidity​Soil Moisture and pH levels​Light Intensity​</a:t>
            </a:r>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r>
              <a:rPr lang="en-US" sz="2400" b="1" dirty="0">
                <a:latin typeface="Times New Roman" panose="02020603050405020304" pitchFamily="18" charset="0"/>
                <a:cs typeface="Times New Roman" panose="02020603050405020304" pitchFamily="18" charset="0"/>
              </a:rPr>
              <a:t>3.Convenience and Low Maintenance:</a:t>
            </a:r>
            <a:r>
              <a:rPr lang="en-US" sz="2400" dirty="0">
                <a:latin typeface="Times New Roman" panose="02020603050405020304" pitchFamily="18" charset="0"/>
                <a:cs typeface="Times New Roman" panose="02020603050405020304" pitchFamily="18" charset="0"/>
              </a:rPr>
              <a:t> </a:t>
            </a:r>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The ability to monitor and control the garden remotely via the app, often with an "autopilot" mode, allows plants to thrive even when the user is away (e.g., Vacation Mode).​</a:t>
            </a:r>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r>
              <a:rPr lang="en-US" sz="2400" b="1" dirty="0">
                <a:latin typeface="Times New Roman" panose="02020603050405020304" pitchFamily="18" charset="0"/>
                <a:cs typeface="Times New Roman" panose="02020603050405020304" pitchFamily="18" charset="0"/>
              </a:rPr>
              <a:t>4.Optimized Plant Conditions: </a:t>
            </a:r>
            <a:endParaRPr lang="en-US" sz="2400" b="1"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By consistently maintaining the ideal environment, users achieve faster growth rates and more consistent results compared to traditional gardening.</a:t>
            </a:r>
            <a:endParaRPr lang="en-IN"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0" y="76200"/>
            <a:ext cx="9302115" cy="1091565"/>
          </a:xfrm>
          <a:prstGeom prst="homePlate">
            <a:avLst/>
          </a:prstGeom>
          <a:gradFill>
            <a:gsLst>
              <a:gs pos="0">
                <a:srgbClr val="E30000"/>
              </a:gs>
              <a:gs pos="100000">
                <a:srgbClr val="760303"/>
              </a:gs>
            </a:gsLst>
            <a:lin scaled="0"/>
          </a:grad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l"/>
            <a:r>
              <a:rPr lang="en-US" altLang="en-US" sz="4000" b="1" dirty="0">
                <a:sym typeface="+mn-ea"/>
              </a:rPr>
              <a:t>Conclusion and Future Scope</a:t>
            </a:r>
            <a:endParaRPr lang="en-US" sz="4000" dirty="0">
              <a:latin typeface="Times New Roman" panose="02020603050405020304" pitchFamily="18" charset="0"/>
              <a:cs typeface="Times New Roman" panose="02020603050405020304" pitchFamily="18" charset="0"/>
            </a:endParaRPr>
          </a:p>
        </p:txBody>
      </p:sp>
      <p:sp>
        <p:nvSpPr>
          <p:cNvPr id="9" name="Text Placeholder 8"/>
          <p:cNvSpPr>
            <a:spLocks noGrp="1"/>
          </p:cNvSpPr>
          <p:nvPr>
            <p:ph type="body" idx="1"/>
          </p:nvPr>
        </p:nvSpPr>
        <p:spPr>
          <a:xfrm>
            <a:off x="431800" y="1276350"/>
            <a:ext cx="11296650" cy="5477510"/>
          </a:xfrm>
        </p:spPr>
        <p:txBody>
          <a:bodyPr wrap="square">
            <a:noAutofit/>
          </a:bodyPr>
          <a:lstStyle/>
          <a:p>
            <a:r>
              <a:rPr lang="en-US" dirty="0">
                <a:latin typeface="Times New Roman" panose="02020603050405020304" pitchFamily="18" charset="0"/>
                <a:cs typeface="Times New Roman" panose="02020603050405020304" pitchFamily="18" charset="0"/>
              </a:rPr>
              <a:t>​</a:t>
            </a:r>
            <a:r>
              <a:rPr lang="en-US" b="1" dirty="0">
                <a:latin typeface="Times New Roman" panose="02020603050405020304" pitchFamily="18" charset="0"/>
                <a:cs typeface="Times New Roman" panose="02020603050405020304" pitchFamily="18" charset="0"/>
              </a:rPr>
              <a:t>1.Predictive Plant Care: </a:t>
            </a:r>
            <a:endParaRPr lang="en-US" b="1"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Moving from simple reminders to using AI to analyze historical data and current sensor readings to predict when a plant will need water, nutrients, or pest treatment before it shows signs of stress.​</a:t>
            </a:r>
            <a:endParaRPr lang="en-US" sz="2400"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2.Recommendations: </a:t>
            </a:r>
            <a:endParaRPr lang="en-US" b="1"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AI models will better integrate hyper-local weather patterns, soil types, and plant genetics to provide climate-smart advice, helping gardeners adapt to changing environmental conditions.​</a:t>
            </a:r>
            <a:endParaRPr lang="en-US" sz="2400"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Conclusion:</a:t>
            </a:r>
            <a:endParaRPr lang="en-US" b="1"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It ensures optimal plant health and increased yields by providing precision care, expert AI-driven advice, and timely intervention for pests/diseases, reducing the learning curve for all user </a:t>
            </a:r>
            <a:r>
              <a:rPr lang="en-US" sz="2400" dirty="0" err="1">
                <a:latin typeface="Times New Roman" panose="02020603050405020304" pitchFamily="18" charset="0"/>
                <a:cs typeface="Times New Roman" panose="02020603050405020304" pitchFamily="18" charset="0"/>
              </a:rPr>
              <a:t>levels.Through</a:t>
            </a:r>
            <a:r>
              <a:rPr lang="en-US" sz="2400" dirty="0">
                <a:latin typeface="Times New Roman" panose="02020603050405020304" pitchFamily="18" charset="0"/>
                <a:cs typeface="Times New Roman" panose="02020603050405020304" pitchFamily="18" charset="0"/>
              </a:rPr>
              <a:t> automation (especially for watering and lighting) and remote monitoring, it drastically reduces manual effort and resource waste, promoting sustainability by conserving water and energy.</a:t>
            </a:r>
            <a:endParaRPr lang="en-IN"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yes</a:t>
            </a:r>
            <a:br>
              <a:rPr lang="en-IN" dirty="0"/>
            </a:br>
            <a:r>
              <a:rPr lang="en-GB" dirty="0"/>
              <a:t>ye</a:t>
            </a:r>
            <a:endParaRPr lang="en-IN" dirty="0"/>
          </a:p>
        </p:txBody>
      </p:sp>
      <p:sp>
        <p:nvSpPr>
          <p:cNvPr id="3" name="Text Placeholder 2"/>
          <p:cNvSpPr>
            <a:spLocks noGrp="1"/>
          </p:cNvSpPr>
          <p:nvPr>
            <p:ph type="body" idx="1"/>
          </p:nvPr>
        </p:nvSpPr>
        <p:spPr>
          <a:xfrm>
            <a:off x="339953" y="1070863"/>
            <a:ext cx="11388725" cy="4308872"/>
          </a:xfrm>
        </p:spPr>
        <p:txBody>
          <a:bodyPr/>
          <a:lstStyle/>
          <a:p>
            <a:r>
              <a:rPr lang="en-US" b="1" dirty="0">
                <a:latin typeface="Times New Roman" panose="02020603050405020304" pitchFamily="18" charset="0"/>
                <a:cs typeface="Times New Roman" panose="02020603050405020304" pitchFamily="18" charset="0"/>
              </a:rPr>
              <a:t>Reference: </a:t>
            </a:r>
            <a:r>
              <a:rPr lang="en-US" dirty="0">
                <a:latin typeface="Times New Roman" panose="02020603050405020304" pitchFamily="18" charset="0"/>
                <a:cs typeface="Times New Roman" panose="02020603050405020304" pitchFamily="18" charset="0"/>
              </a:rPr>
              <a:t>Springer Open</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Springer Open is a portfolio of more than 160 fully open access journals and books published by Springer Nature that cover all areas of science, technology, medicine, humanities, and social sciences. Articles are freely available online immediately upon publication, with authors retaining copyright under a Creative Commons license that allows for reuse and redistribution as long as proper citation is provided. The journals undergo a peer-review process to ensure the quality of published work.</a:t>
            </a:r>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Link: </a:t>
            </a:r>
            <a:r>
              <a:rPr lang="en-US" dirty="0">
                <a:latin typeface="Times New Roman" panose="02020603050405020304" pitchFamily="18" charset="0"/>
                <a:cs typeface="Times New Roman" panose="02020603050405020304" pitchFamily="18" charset="0"/>
                <a:hlinkClick r:id="rId1"/>
              </a:rPr>
              <a:t>https://www.springeropen.com/journals</a:t>
            </a:r>
            <a:endParaRPr lang="en-US" dirty="0">
              <a:latin typeface="Times New Roman" panose="02020603050405020304" pitchFamily="18" charset="0"/>
              <a:cs typeface="Times New Roman" panose="02020603050405020304" pitchFamily="18" charset="0"/>
            </a:endParaRPr>
          </a:p>
        </p:txBody>
      </p:sp>
      <p:sp>
        <p:nvSpPr>
          <p:cNvPr id="4" name="Pentagon 3"/>
          <p:cNvSpPr/>
          <p:nvPr/>
        </p:nvSpPr>
        <p:spPr>
          <a:xfrm>
            <a:off x="14605" y="-6350"/>
            <a:ext cx="3627120" cy="1069340"/>
          </a:xfrm>
          <a:prstGeom prst="homePlate">
            <a:avLst/>
          </a:prstGeom>
          <a:gradFill>
            <a:gsLst>
              <a:gs pos="0">
                <a:srgbClr val="E30000"/>
              </a:gs>
              <a:gs pos="100000">
                <a:srgbClr val="760303"/>
              </a:gs>
            </a:gsLst>
            <a:lin scaled="0"/>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4000" dirty="0">
                <a:latin typeface="Times New Roman" panose="02020603050405020304" pitchFamily="18" charset="0"/>
                <a:cs typeface="Times New Roman" panose="02020603050405020304" pitchFamily="18" charset="0"/>
              </a:rPr>
              <a:t>References</a:t>
            </a:r>
            <a:endParaRPr lang="en-US" sz="4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8739" y="71754"/>
            <a:ext cx="4010050" cy="492443"/>
          </a:xfrm>
        </p:spPr>
        <p:txBody>
          <a:bodyPr/>
          <a:lstStyle/>
          <a:p>
            <a:r>
              <a:rPr lang="en-GB" dirty="0"/>
              <a:t> </a:t>
            </a:r>
            <a:endParaRPr lang="en-IN" dirty="0"/>
          </a:p>
        </p:txBody>
      </p:sp>
      <p:sp>
        <p:nvSpPr>
          <p:cNvPr id="3" name="Text Placeholder 2"/>
          <p:cNvSpPr>
            <a:spLocks noGrp="1"/>
          </p:cNvSpPr>
          <p:nvPr>
            <p:ph type="body" idx="1"/>
          </p:nvPr>
        </p:nvSpPr>
        <p:spPr>
          <a:xfrm>
            <a:off x="457200" y="2438400"/>
            <a:ext cx="11388725" cy="1447800"/>
          </a:xfrm>
        </p:spPr>
        <p:txBody>
          <a:bodyPr/>
          <a:lstStyle/>
          <a:p>
            <a:pPr algn="ctr"/>
            <a:r>
              <a:rPr lang="en-GB" sz="6600" dirty="0">
                <a:solidFill>
                  <a:srgbClr val="C00000"/>
                </a:solidFill>
                <a:latin typeface="Bauhaus 93" panose="04030905020B02020C02" pitchFamily="82" charset="0"/>
              </a:rPr>
              <a:t>THANK YOU</a:t>
            </a:r>
            <a:endParaRPr lang="en-IN" sz="6600" dirty="0">
              <a:solidFill>
                <a:srgbClr val="C00000"/>
              </a:solidFill>
              <a:latin typeface="Bauhaus 93" panose="04030905020B02020C02" pitchFamily="82"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3258</Words>
  <Application>WPS Presentation</Application>
  <PresentationFormat>Widescreen</PresentationFormat>
  <Paragraphs>79</Paragraphs>
  <Slides>7</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7</vt:i4>
      </vt:variant>
    </vt:vector>
  </HeadingPairs>
  <TitlesOfParts>
    <vt:vector size="17" baseType="lpstr">
      <vt:lpstr>Arial</vt:lpstr>
      <vt:lpstr>SimSun</vt:lpstr>
      <vt:lpstr>Wingdings</vt:lpstr>
      <vt:lpstr>Times New Roman</vt:lpstr>
      <vt:lpstr>Calibri</vt:lpstr>
      <vt:lpstr>Times New Roman</vt:lpstr>
      <vt:lpstr>Bauhaus 93</vt:lpstr>
      <vt:lpstr>Microsoft YaHei</vt:lpstr>
      <vt:lpstr>Arial Unicode MS</vt:lpstr>
      <vt:lpstr>Office Theme</vt:lpstr>
      <vt:lpstr>PowerPoint 演示文稿</vt:lpstr>
      <vt:lpstr>DATA FLOW DIAGRAMS</vt:lpstr>
      <vt:lpstr>Modules</vt:lpstr>
      <vt:lpstr>Results</vt:lpstr>
      <vt:lpstr>Conclusion and Future Scope</vt:lpstr>
      <vt:lpstr>yes ye</vt:lpstr>
      <vt:lpstr> </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Brain Tumor Detection Using Convolutional Neural Networks</dc:title>
  <dc:creator>T VaruN</dc:creator>
  <cp:lastModifiedBy>Rakesh Patel</cp:lastModifiedBy>
  <cp:revision>67</cp:revision>
  <dcterms:created xsi:type="dcterms:W3CDTF">2025-02-16T10:41:00Z</dcterms:created>
  <dcterms:modified xsi:type="dcterms:W3CDTF">2025-10-26T14:49:51Z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2025-02-15T02:30:00Z</vt:filetime>
  </property>
  <property fmtid="{D5CDD505-2E9C-101B-9397-08002B2CF9AE}" pid="3" name="Creator">
    <vt:lpwstr>Microsoft® PowerPoint® 2019</vt:lpwstr>
  </property>
  <property fmtid="{D5CDD505-2E9C-101B-9397-08002B2CF9AE}" pid="4" name="LastSaved">
    <vt:filetime>2025-02-16T02:30:00Z</vt:filetime>
  </property>
  <property fmtid="{D5CDD505-2E9C-101B-9397-08002B2CF9AE}" pid="5" name="Producer">
    <vt:lpwstr>Microsoft® PowerPoint® 2019</vt:lpwstr>
  </property>
  <property fmtid="{D5CDD505-2E9C-101B-9397-08002B2CF9AE}" pid="6" name="ICV">
    <vt:lpwstr>21EC7AD8CD184CB4BCF9F669573B92BC_12</vt:lpwstr>
  </property>
  <property fmtid="{D5CDD505-2E9C-101B-9397-08002B2CF9AE}" pid="7" name="KSOProductBuildVer">
    <vt:lpwstr>1033-12.2.0.23131</vt:lpwstr>
  </property>
</Properties>
</file>